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paper. Desired outcomes and proposed work are not measured production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paper. Desired outcomes and proposed work are not measured production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paper. Desired outcomes and proposed work are not measured production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paper. Desired outcomes and proposed work are not measured production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94360" y="411480"/>
            <a:ext cx="10972800" cy="548640"/>
          </a:xfrm>
          <a:prstGeom prst="rect">
            <a:avLst/>
          </a:prstGeom>
          <a:noFill/>
          <a:ln/>
        </p:spPr>
        <p:txBody>
          <a:bodyPr wrap="square" lIns="0" tIns="0" rIns="0" bIns="0" rtlCol="0" anchor="ctr"/>
          <a:lstStyle/>
          <a:p>
            <a:pPr indent="0" marL="0">
              <a:buNone/>
            </a:pPr>
            <a:r>
              <a:rPr lang="en-US" sz="2600" b="1" dirty="0">
                <a:solidFill>
                  <a:srgbClr val="193847"/>
                </a:solidFill>
              </a:rPr>
              <a:t>Before we promise a date</a:t>
            </a:r>
            <a:endParaRPr lang="en-US" sz="2600" dirty="0"/>
          </a:p>
        </p:txBody>
      </p:sp>
      <p:sp>
        <p:nvSpPr>
          <p:cNvPr id="3" name="Text 1"/>
          <p:cNvSpPr/>
          <p:nvPr/>
        </p:nvSpPr>
        <p:spPr>
          <a:xfrm>
            <a:off x="594360" y="1325880"/>
            <a:ext cx="10881360" cy="1325880"/>
          </a:xfrm>
          <a:prstGeom prst="rect">
            <a:avLst/>
          </a:prstGeom>
          <a:noFill/>
          <a:ln/>
        </p:spPr>
        <p:txBody>
          <a:bodyPr wrap="square" lIns="0" tIns="0" rIns="0" bIns="0" rtlCol="0" anchor="t"/>
          <a:lstStyle/>
          <a:p>
            <a:pPr indent="0" marL="0">
              <a:buNone/>
            </a:pPr>
            <a:r>
              <a:rPr lang="en-US" sz="1800" dirty="0">
                <a:solidFill>
                  <a:srgbClr val="23333A"/>
                </a:solidFill>
              </a:rPr>
              <a:t>Keep the complete order-processing target at two seconds. That is the business budget; the submission service has a tighter tail-latency budget.</a:t>
            </a:r>
            <a:endParaRPr lang="en-US" sz="1800" dirty="0"/>
          </a:p>
        </p:txBody>
      </p:sp>
      <p:sp>
        <p:nvSpPr>
          <p:cNvPr id="4" name="Text 2"/>
          <p:cNvSpPr/>
          <p:nvPr/>
        </p:nvSpPr>
        <p:spPr>
          <a:xfrm>
            <a:off x="594360" y="2788920"/>
            <a:ext cx="10881360" cy="1325880"/>
          </a:xfrm>
          <a:prstGeom prst="rect">
            <a:avLst/>
          </a:prstGeom>
          <a:noFill/>
          <a:ln/>
        </p:spPr>
        <p:txBody>
          <a:bodyPr wrap="square" lIns="0" tIns="0" rIns="0" bIns="0" rtlCol="0" anchor="t"/>
          <a:lstStyle/>
          <a:p>
            <a:pPr indent="0" marL="0">
              <a:buNone/>
            </a:pPr>
            <a:r>
              <a:rPr lang="en-US" sz="1800" dirty="0">
                <a:solidFill>
                  <a:srgbClr val="23333A"/>
                </a:solidFill>
              </a:rPr>
              <a:t>Accepting an order is a promise that stock exists behind every line. Order Handling and Stock Reservation must together make that promise hold. We cannot make it today.</a:t>
            </a:r>
            <a:endParaRPr lang="en-US" sz="1800" dirty="0"/>
          </a:p>
        </p:txBody>
      </p:sp>
      <p:sp>
        <p:nvSpPr>
          <p:cNvPr id="5" name="Text 3"/>
          <p:cNvSpPr/>
          <p:nvPr/>
        </p:nvSpPr>
        <p:spPr>
          <a:xfrm>
            <a:off x="594360" y="4251960"/>
            <a:ext cx="10881360" cy="1325880"/>
          </a:xfrm>
          <a:prstGeom prst="rect">
            <a:avLst/>
          </a:prstGeom>
          <a:noFill/>
          <a:ln/>
        </p:spPr>
        <p:txBody>
          <a:bodyPr wrap="square" lIns="0" tIns="0" rIns="0" bIns="0" rtlCol="0" anchor="t"/>
          <a:lstStyle/>
          <a:p>
            <a:pPr indent="0" marL="0">
              <a:buNone/>
            </a:pPr>
            <a:r>
              <a:rPr lang="en-US" sz="1800" dirty="0">
                <a:solidFill>
                  <a:srgbClr val="23333A"/>
                </a:solidFill>
              </a:rPr>
              <a:t>A customer record and their orders should answer only to that customer or a recognised operator. Customer Accounts must close the authorization gap; sign-in alone does not do it.</a:t>
            </a:r>
            <a:endParaRPr lang="en-US" sz="1800" dirty="0"/>
          </a:p>
        </p:txBody>
      </p:sp>
      <p:sp>
        <p:nvSpPr>
          <p:cNvPr id="6" name="Text 4"/>
          <p:cNvSpPr/>
          <p:nvPr/>
        </p:nvSpPr>
        <p:spPr>
          <a:xfrm>
            <a:off x="594360" y="6446520"/>
            <a:ext cx="10881360" cy="182880"/>
          </a:xfrm>
          <a:prstGeom prst="rect">
            <a:avLst/>
          </a:prstGeom>
          <a:noFill/>
          <a:ln/>
        </p:spPr>
        <p:txBody>
          <a:bodyPr wrap="square" lIns="0" tIns="0" rIns="0" bIns="0" rtlCol="0" anchor="ctr"/>
          <a:lstStyle/>
          <a:p>
            <a:pPr indent="0" marL="0">
              <a:buNone/>
            </a:pPr>
            <a:r>
              <a:rPr lang="en-US" sz="1000" dirty="0">
                <a:solidFill>
                  <a:srgbClr val="52646B"/>
                </a:solidFill>
              </a:rPr>
              <a:t>1 / 4    Delivery discussion copy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94360" y="411480"/>
            <a:ext cx="10972800" cy="548640"/>
          </a:xfrm>
          <a:prstGeom prst="rect">
            <a:avLst/>
          </a:prstGeom>
          <a:noFill/>
          <a:ln/>
        </p:spPr>
        <p:txBody>
          <a:bodyPr wrap="square" lIns="0" tIns="0" rIns="0" bIns="0" rtlCol="0" anchor="ctr"/>
          <a:lstStyle/>
          <a:p>
            <a:pPr indent="0" marL="0">
              <a:buNone/>
            </a:pPr>
            <a:r>
              <a:rPr lang="en-US" sz="2600" b="1" dirty="0">
                <a:solidFill>
                  <a:srgbClr val="193847"/>
                </a:solidFill>
              </a:rPr>
              <a:t>Price, discount, queue</a:t>
            </a:r>
            <a:endParaRPr lang="en-US" sz="2600" dirty="0"/>
          </a:p>
        </p:txBody>
      </p:sp>
      <p:sp>
        <p:nvSpPr>
          <p:cNvPr id="3" name="Text 1"/>
          <p:cNvSpPr/>
          <p:nvPr/>
        </p:nvSpPr>
        <p:spPr>
          <a:xfrm>
            <a:off x="594360" y="1325880"/>
            <a:ext cx="10881360" cy="1325880"/>
          </a:xfrm>
          <a:prstGeom prst="rect">
            <a:avLst/>
          </a:prstGeom>
          <a:noFill/>
          <a:ln/>
        </p:spPr>
        <p:txBody>
          <a:bodyPr wrap="square" lIns="0" tIns="0" rIns="0" bIns="0" rtlCol="0" anchor="t"/>
          <a:lstStyle/>
          <a:p>
            <a:pPr indent="0" marL="0">
              <a:buNone/>
            </a:pPr>
            <a:r>
              <a:rPr lang="en-US" sz="1800" dirty="0">
                <a:solidFill>
                  <a:srgbClr val="23333A"/>
                </a:solidFill>
              </a:rPr>
              <a:t>Charge the shopper the discounts they qualify for, and tell them when those discounts cannot be established. Customer Accounts supplies the entitlement; ordering must stop silently treating a failed read as no discount.</a:t>
            </a:r>
            <a:endParaRPr lang="en-US" sz="1800" dirty="0"/>
          </a:p>
        </p:txBody>
      </p:sp>
      <p:sp>
        <p:nvSpPr>
          <p:cNvPr id="4" name="Text 2"/>
          <p:cNvSpPr/>
          <p:nvPr/>
        </p:nvSpPr>
        <p:spPr>
          <a:xfrm>
            <a:off x="594360" y="2788920"/>
            <a:ext cx="10881360" cy="1325880"/>
          </a:xfrm>
          <a:prstGeom prst="rect">
            <a:avLst/>
          </a:prstGeom>
          <a:noFill/>
          <a:ln/>
        </p:spPr>
        <p:txBody>
          <a:bodyPr wrap="square" lIns="0" tIns="0" rIns="0" bIns="0" rtlCol="0" anchor="t"/>
          <a:lstStyle/>
          <a:p>
            <a:pPr indent="0" marL="0">
              <a:buNone/>
            </a:pPr>
            <a:r>
              <a:rPr lang="en-US" sz="1800" dirty="0">
                <a:solidFill>
                  <a:srgbClr val="23333A"/>
                </a:solidFill>
              </a:rPr>
              <a:t>The range manager should correct a selling price without leaving the back office. Range and Pricing owns that change. A quotation is not a stored price edit, and this remains open work.</a:t>
            </a:r>
            <a:endParaRPr lang="en-US" sz="1800" dirty="0"/>
          </a:p>
        </p:txBody>
      </p:sp>
      <p:sp>
        <p:nvSpPr>
          <p:cNvPr id="5" name="Text 3"/>
          <p:cNvSpPr/>
          <p:nvPr/>
        </p:nvSpPr>
        <p:spPr>
          <a:xfrm>
            <a:off x="594360" y="4251960"/>
            <a:ext cx="10881360" cy="1325880"/>
          </a:xfrm>
          <a:prstGeom prst="rect">
            <a:avLst/>
          </a:prstGeom>
          <a:noFill/>
          <a:ln/>
        </p:spPr>
        <p:txBody>
          <a:bodyPr wrap="square" lIns="0" tIns="0" rIns="0" bIns="0" rtlCol="0" anchor="t"/>
          <a:lstStyle/>
          <a:p>
            <a:pPr indent="0" marL="0">
              <a:buNone/>
            </a:pPr>
            <a:r>
              <a:rPr lang="en-US" sz="1800" dirty="0">
                <a:solidFill>
                  <a:srgbClr val="23333A"/>
                </a:solidFill>
              </a:rPr>
              <a:t>Every order should reach a terminal state because a person made a decision, rather than disappearing from the queue. Order Handling supplies the status work and its remaining audit gap.</a:t>
            </a:r>
            <a:endParaRPr lang="en-US" sz="1800" dirty="0"/>
          </a:p>
        </p:txBody>
      </p:sp>
      <p:sp>
        <p:nvSpPr>
          <p:cNvPr id="6" name="Text 4"/>
          <p:cNvSpPr/>
          <p:nvPr/>
        </p:nvSpPr>
        <p:spPr>
          <a:xfrm>
            <a:off x="594360" y="6446520"/>
            <a:ext cx="10881360" cy="182880"/>
          </a:xfrm>
          <a:prstGeom prst="rect">
            <a:avLst/>
          </a:prstGeom>
          <a:noFill/>
          <a:ln/>
        </p:spPr>
        <p:txBody>
          <a:bodyPr wrap="square" lIns="0" tIns="0" rIns="0" bIns="0" rtlCol="0" anchor="ctr"/>
          <a:lstStyle/>
          <a:p>
            <a:pPr indent="0" marL="0">
              <a:buNone/>
            </a:pPr>
            <a:r>
              <a:rPr lang="en-US" sz="1000" dirty="0">
                <a:solidFill>
                  <a:srgbClr val="52646B"/>
                </a:solidFill>
              </a:rPr>
              <a:t>2 / 4    Delivery discussion copy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94360" y="411480"/>
            <a:ext cx="10972800" cy="548640"/>
          </a:xfrm>
          <a:prstGeom prst="rect">
            <a:avLst/>
          </a:prstGeom>
          <a:noFill/>
          <a:ln/>
        </p:spPr>
        <p:txBody>
          <a:bodyPr wrap="square" lIns="0" tIns="0" rIns="0" bIns="0" rtlCol="0" anchor="ctr"/>
          <a:lstStyle/>
          <a:p>
            <a:pPr indent="0" marL="0">
              <a:buNone/>
            </a:pPr>
            <a:r>
              <a:rPr lang="en-US" sz="2600" b="1" dirty="0">
                <a:solidFill>
                  <a:srgbClr val="193847"/>
                </a:solidFill>
              </a:rPr>
              <a:t>People using the shop</a:t>
            </a:r>
            <a:endParaRPr lang="en-US" sz="2600" dirty="0"/>
          </a:p>
        </p:txBody>
      </p:sp>
      <p:sp>
        <p:nvSpPr>
          <p:cNvPr id="3" name="Text 1"/>
          <p:cNvSpPr/>
          <p:nvPr/>
        </p:nvSpPr>
        <p:spPr>
          <a:xfrm>
            <a:off x="594360" y="1325880"/>
            <a:ext cx="10881360" cy="1325880"/>
          </a:xfrm>
          <a:prstGeom prst="rect">
            <a:avLst/>
          </a:prstGeom>
          <a:noFill/>
          <a:ln/>
        </p:spPr>
        <p:txBody>
          <a:bodyPr wrap="square" lIns="0" tIns="0" rIns="0" bIns="0" rtlCol="0" anchor="t"/>
          <a:lstStyle/>
          <a:p>
            <a:pPr indent="0" marL="0">
              <a:buNone/>
            </a:pPr>
            <a:r>
              <a:rPr lang="en-US" sz="1800" dirty="0">
                <a:solidFill>
                  <a:srgbClr val="23333A"/>
                </a:solidFill>
              </a:rPr>
              <a:t>An operator should answer about any customer from the back office, without asking them to repeat their details. Customer Accounts supplies the record and discounts; operator access is already present.</a:t>
            </a:r>
            <a:endParaRPr lang="en-US" sz="1800" dirty="0"/>
          </a:p>
        </p:txBody>
      </p:sp>
      <p:sp>
        <p:nvSpPr>
          <p:cNvPr id="4" name="Text 2"/>
          <p:cNvSpPr/>
          <p:nvPr/>
        </p:nvSpPr>
        <p:spPr>
          <a:xfrm>
            <a:off x="594360" y="2788920"/>
            <a:ext cx="10881360" cy="1325880"/>
          </a:xfrm>
          <a:prstGeom prst="rect">
            <a:avLst/>
          </a:prstGeom>
          <a:noFill/>
          <a:ln/>
        </p:spPr>
        <p:txBody>
          <a:bodyPr wrap="square" lIns="0" tIns="0" rIns="0" bIns="0" rtlCol="0" anchor="t"/>
          <a:lstStyle/>
          <a:p>
            <a:pPr indent="0" marL="0">
              <a:buNone/>
            </a:pPr>
            <a:r>
              <a:rPr lang="en-US" sz="1800" dirty="0">
                <a:solidFill>
                  <a:srgbClr val="23333A"/>
                </a:solidFill>
              </a:rPr>
              <a:t>Try a release with selected shoppers before exposing everyone to it. Shopping supplies the customer surface to evaluate. Cohort routing is still unbuilt and this is a desired outcome, not a release feature we already have.</a:t>
            </a:r>
            <a:endParaRPr lang="en-US" sz="1800" dirty="0"/>
          </a:p>
        </p:txBody>
      </p:sp>
      <p:sp>
        <p:nvSpPr>
          <p:cNvPr id="5" name="Text 3"/>
          <p:cNvSpPr/>
          <p:nvPr/>
        </p:nvSpPr>
        <p:spPr>
          <a:xfrm>
            <a:off x="594360" y="6446520"/>
            <a:ext cx="10881360" cy="182880"/>
          </a:xfrm>
          <a:prstGeom prst="rect">
            <a:avLst/>
          </a:prstGeom>
          <a:noFill/>
          <a:ln/>
        </p:spPr>
        <p:txBody>
          <a:bodyPr wrap="square" lIns="0" tIns="0" rIns="0" bIns="0" rtlCol="0" anchor="ctr"/>
          <a:lstStyle/>
          <a:p>
            <a:pPr indent="0" marL="0">
              <a:buNone/>
            </a:pPr>
            <a:r>
              <a:rPr lang="en-US" sz="1000" dirty="0">
                <a:solidFill>
                  <a:srgbClr val="52646B"/>
                </a:solidFill>
              </a:rPr>
              <a:t>3 / 4    Delivery discussion copy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594360" y="411480"/>
            <a:ext cx="10972800" cy="548640"/>
          </a:xfrm>
          <a:prstGeom prst="rect">
            <a:avLst/>
          </a:prstGeom>
          <a:noFill/>
          <a:ln/>
        </p:spPr>
        <p:txBody>
          <a:bodyPr wrap="square" lIns="0" tIns="0" rIns="0" bIns="0" rtlCol="0" anchor="ctr"/>
          <a:lstStyle/>
          <a:p>
            <a:pPr indent="0" marL="0">
              <a:buNone/>
            </a:pPr>
            <a:r>
              <a:rPr lang="en-US" sz="2600" b="1" dirty="0">
                <a:solidFill>
                  <a:srgbClr val="193847"/>
                </a:solidFill>
              </a:rPr>
              <a:t>Pilot planning - 19 October</a:t>
            </a:r>
            <a:endParaRPr lang="en-US" sz="2600" dirty="0"/>
          </a:p>
        </p:txBody>
      </p:sp>
      <p:sp>
        <p:nvSpPr>
          <p:cNvPr id="3" name="Text 1"/>
          <p:cNvSpPr/>
          <p:nvPr/>
        </p:nvSpPr>
        <p:spPr>
          <a:xfrm>
            <a:off x="594360" y="1325880"/>
            <a:ext cx="10881360" cy="1325880"/>
          </a:xfrm>
          <a:prstGeom prst="rect">
            <a:avLst/>
          </a:prstGeom>
          <a:noFill/>
          <a:ln/>
        </p:spPr>
        <p:txBody>
          <a:bodyPr wrap="square" lIns="0" tIns="0" rIns="0" bIns="0" rtlCol="0" anchor="t"/>
          <a:lstStyle/>
          <a:p>
            <a:pPr indent="0" marL="0">
              <a:buNone/>
            </a:pPr>
            <a:r>
              <a:rPr lang="en-US" sz="1800" dirty="0">
                <a:solidFill>
                  <a:srgbClr val="23333A"/>
                </a:solidFill>
              </a:rPr>
              <a:t>Stock-backed acceptance is the outcome we want before expanding delivery. Range discovery and customer identification lead into order review, stock holding and confirmation. Carrier handoff is the next proposed stage, not something this release can do. Do not call the sketch a working checkout.</a:t>
            </a:r>
            <a:endParaRPr lang="en-US" sz="1800" dirty="0"/>
          </a:p>
        </p:txBody>
      </p:sp>
      <p:sp>
        <p:nvSpPr>
          <p:cNvPr id="4" name="Text 2"/>
          <p:cNvSpPr/>
          <p:nvPr/>
        </p:nvSpPr>
        <p:spPr>
          <a:xfrm>
            <a:off x="594360" y="2788920"/>
            <a:ext cx="10881360" cy="1325880"/>
          </a:xfrm>
          <a:prstGeom prst="rect">
            <a:avLst/>
          </a:prstGeom>
          <a:noFill/>
          <a:ln/>
        </p:spPr>
        <p:txBody>
          <a:bodyPr wrap="square" lIns="0" tIns="0" rIns="0" bIns="0" rtlCol="0" anchor="t"/>
          <a:lstStyle/>
          <a:p>
            <a:pPr indent="0" marL="0">
              <a:buNone/>
            </a:pPr>
            <a:r>
              <a:rPr lang="en-US" sz="1800" dirty="0">
                <a:solidFill>
                  <a:srgbClr val="23333A"/>
                </a:solidFill>
              </a:rPr>
              <a:t>19 October planning board: aim to pilot the stock-backed order flow on 2 November 2026, subject to the submission and reservation wiring being ready.</a:t>
            </a:r>
            <a:endParaRPr lang="en-US" sz="1800" dirty="0"/>
          </a:p>
        </p:txBody>
      </p:sp>
      <p:sp>
        <p:nvSpPr>
          <p:cNvPr id="5" name="Text 3"/>
          <p:cNvSpPr/>
          <p:nvPr/>
        </p:nvSpPr>
        <p:spPr>
          <a:xfrm>
            <a:off x="594360" y="6446520"/>
            <a:ext cx="10881360" cy="182880"/>
          </a:xfrm>
          <a:prstGeom prst="rect">
            <a:avLst/>
          </a:prstGeom>
          <a:noFill/>
          <a:ln/>
        </p:spPr>
        <p:txBody>
          <a:bodyPr wrap="square" lIns="0" tIns="0" rIns="0" bIns="0" rtlCol="0" anchor="ctr"/>
          <a:lstStyle/>
          <a:p>
            <a:pPr indent="0" marL="0">
              <a:buNone/>
            </a:pPr>
            <a:r>
              <a:rPr lang="en-US" sz="1000" dirty="0">
                <a:solidFill>
                  <a:srgbClr val="52646B"/>
                </a:solidFill>
              </a:rPr>
              <a:t>4 / 4    Delivery discussion copy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Retail team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goals</dc:title>
  <dc:subject>Working team papers</dc:subject>
  <dc:creator>Delivery team</dc:creator>
  <cp:lastModifiedBy>Delivery team</cp:lastModifiedBy>
  <cp:revision>1</cp:revision>
  <dcterms:created xsi:type="dcterms:W3CDTF">2026-10-20T00:00:00Z</dcterms:created>
  <dcterms:modified xsi:type="dcterms:W3CDTF">2026-10-20T00:00:00Z</dcterms:modified>
</cp:coreProperties>
</file>